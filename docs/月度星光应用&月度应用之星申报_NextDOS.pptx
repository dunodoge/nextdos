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5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A8F6"/>
    <a:srgbClr val="0F7FF6"/>
    <a:srgbClr val="7BBC49"/>
    <a:srgbClr val="77BB69"/>
    <a:srgbClr val="329AD7"/>
    <a:srgbClr val="F7F9FC"/>
    <a:srgbClr val="9DC0E3"/>
    <a:srgbClr val="DFEAF6"/>
    <a:srgbClr val="E1E0E0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499" autoAdjust="0"/>
    <p:restoredTop sz="94607" autoAdjust="0"/>
  </p:normalViewPr>
  <p:slideViewPr>
    <p:cSldViewPr snapToGrid="0" showGuides="1">
      <p:cViewPr varScale="1">
        <p:scale>
          <a:sx n="104" d="100"/>
          <a:sy n="104" d="100"/>
        </p:scale>
        <p:origin x="88" y="76"/>
      </p:cViewPr>
      <p:guideLst>
        <p:guide orient="horz" pos="235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CE6E62-0A4A-440F-A3A0-1904151E0F67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5C4DF4-6413-405D-8311-20A510DC5E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5C4DF4-6413-405D-8311-20A510DC5EFC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3" name="图片 7" descr="基金会+OH logo组合-0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3710" y="304165"/>
            <a:ext cx="3564890" cy="1234440"/>
          </a:xfrm>
          <a:prstGeom prst="rect">
            <a:avLst/>
          </a:prstGeom>
        </p:spPr>
      </p:pic>
      <p:grpSp>
        <p:nvGrpSpPr>
          <p:cNvPr id="4" name="组合 13"/>
          <p:cNvGrpSpPr/>
          <p:nvPr userDrawn="1"/>
        </p:nvGrpSpPr>
        <p:grpSpPr>
          <a:xfrm>
            <a:off x="9906635" y="6367145"/>
            <a:ext cx="2199640" cy="344805"/>
            <a:chOff x="15601" y="10027"/>
            <a:chExt cx="3464" cy="543"/>
          </a:xfrm>
        </p:grpSpPr>
        <p:sp>
          <p:nvSpPr>
            <p:cNvPr id="5" name="文本框 14"/>
            <p:cNvSpPr txBox="1"/>
            <p:nvPr userDrawn="1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l" defTabSz="914400" rtl="0" eaLnBrk="1" latinLnBrk="0" hangingPunct="1">
                <a:lnSpc>
                  <a:spcPct val="130000"/>
                </a:lnSpc>
              </a:pPr>
              <a:r>
                <a:rPr lang="zh-CN" altLang="en-US" sz="1400" kern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</a:p>
          </p:txBody>
        </p:sp>
        <p:cxnSp>
          <p:nvCxnSpPr>
            <p:cNvPr id="6" name="直接连接符 15"/>
            <p:cNvCxnSpPr/>
            <p:nvPr userDrawn="1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F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1"/>
          <p:cNvPicPr>
            <a:picLocks noChangeAspect="1"/>
          </p:cNvPicPr>
          <p:nvPr userDrawn="1"/>
        </p:nvPicPr>
        <p:blipFill rotWithShape="1">
          <a:blip r:embed="rId2" cstate="print">
            <a:alphaModFix amt="20000"/>
          </a:blip>
          <a:srcRect b="13216"/>
          <a:stretch>
            <a:fillRect/>
          </a:stretch>
        </p:blipFill>
        <p:spPr>
          <a:xfrm>
            <a:off x="7546126" y="0"/>
            <a:ext cx="4151671" cy="5794408"/>
          </a:xfrm>
          <a:prstGeom prst="rect">
            <a:avLst/>
          </a:prstGeom>
        </p:spPr>
      </p:pic>
      <p:grpSp>
        <p:nvGrpSpPr>
          <p:cNvPr id="9" name="组合 2"/>
          <p:cNvGrpSpPr/>
          <p:nvPr userDrawn="1"/>
        </p:nvGrpSpPr>
        <p:grpSpPr>
          <a:xfrm>
            <a:off x="9763201" y="6305810"/>
            <a:ext cx="2199640" cy="344805"/>
            <a:chOff x="15601" y="10027"/>
            <a:chExt cx="3464" cy="543"/>
          </a:xfrm>
        </p:grpSpPr>
        <p:sp>
          <p:nvSpPr>
            <p:cNvPr id="10" name="文本框 3"/>
            <p:cNvSpPr txBox="1"/>
            <p:nvPr userDrawn="1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l" defTabSz="914400" rtl="0" eaLnBrk="1" latinLnBrk="0" hangingPunct="1">
                <a:lnSpc>
                  <a:spcPct val="130000"/>
                </a:lnSpc>
              </a:pPr>
              <a:r>
                <a:rPr lang="zh-CN" altLang="en-US" sz="1400" kern="1200" dirty="0">
                  <a:gradFill>
                    <a:gsLst>
                      <a:gs pos="0">
                        <a:srgbClr val="0284E2"/>
                      </a:gs>
                      <a:gs pos="100000">
                        <a:srgbClr val="00B050"/>
                      </a:gs>
                    </a:gsLst>
                    <a:lin ang="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</a:p>
          </p:txBody>
        </p:sp>
        <p:cxnSp>
          <p:nvCxnSpPr>
            <p:cNvPr id="11" name="直接连接符 15"/>
            <p:cNvCxnSpPr/>
            <p:nvPr userDrawn="1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12" name="图片 9"/>
          <p:cNvPicPr>
            <a:picLocks noChangeAspect="1"/>
          </p:cNvPicPr>
          <p:nvPr userDrawn="1"/>
        </p:nvPicPr>
        <p:blipFill>
          <a:blip r:embed="rId3" cstate="print">
            <a:alphaModFix amt="21000"/>
          </a:blip>
          <a:srcRect/>
          <a:stretch>
            <a:fillRect/>
          </a:stretch>
        </p:blipFill>
        <p:spPr>
          <a:xfrm>
            <a:off x="0" y="3261146"/>
            <a:ext cx="2999678" cy="4133416"/>
          </a:xfrm>
          <a:prstGeom prst="rect">
            <a:avLst/>
          </a:prstGeom>
        </p:spPr>
      </p:pic>
      <p:pic>
        <p:nvPicPr>
          <p:cNvPr id="13" name="图片 4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8273" y="0"/>
            <a:ext cx="3483086" cy="13061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标题幻灯片"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45008" y="6356350"/>
            <a:ext cx="274320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bg>
      <p:bgPr>
        <a:solidFill>
          <a:srgbClr val="08A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13"/>
          <p:cNvGrpSpPr/>
          <p:nvPr userDrawn="1"/>
        </p:nvGrpSpPr>
        <p:grpSpPr>
          <a:xfrm>
            <a:off x="9763201" y="6305810"/>
            <a:ext cx="2199640" cy="344805"/>
            <a:chOff x="15601" y="10027"/>
            <a:chExt cx="3464" cy="543"/>
          </a:xfrm>
        </p:grpSpPr>
        <p:sp>
          <p:nvSpPr>
            <p:cNvPr id="25" name="文本框 14"/>
            <p:cNvSpPr txBox="1"/>
            <p:nvPr userDrawn="1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l" defTabSz="914400" rtl="0" eaLnBrk="1" latinLnBrk="0" hangingPunct="1">
                <a:lnSpc>
                  <a:spcPct val="130000"/>
                </a:lnSpc>
              </a:pPr>
              <a:r>
                <a:rPr lang="zh-CN" altLang="en-US" sz="1400" kern="1200" dirty="0">
                  <a:gradFill>
                    <a:gsLst>
                      <a:gs pos="0">
                        <a:srgbClr val="0284E2"/>
                      </a:gs>
                      <a:gs pos="100000">
                        <a:srgbClr val="00B050"/>
                      </a:gs>
                    </a:gsLst>
                    <a:lin ang="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</a:p>
          </p:txBody>
        </p:sp>
        <p:cxnSp>
          <p:nvCxnSpPr>
            <p:cNvPr id="26" name="直接连接符 15"/>
            <p:cNvCxnSpPr/>
            <p:nvPr userDrawn="1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2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8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215067" y="171415"/>
            <a:ext cx="5966068" cy="4461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zh-CN" altLang="en-US"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/>
              <a:t>单击此处编辑母版文本</a:t>
            </a:r>
          </a:p>
        </p:txBody>
      </p:sp>
      <p:pic>
        <p:nvPicPr>
          <p:cNvPr id="29" name="图片 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58425" y="0"/>
            <a:ext cx="2350420" cy="881407"/>
          </a:xfrm>
          <a:prstGeom prst="rect">
            <a:avLst/>
          </a:prstGeom>
        </p:spPr>
      </p:pic>
      <p:sp>
        <p:nvSpPr>
          <p:cNvPr id="30" name="矩形 3"/>
          <p:cNvSpPr/>
          <p:nvPr userDrawn="1"/>
        </p:nvSpPr>
        <p:spPr>
          <a:xfrm>
            <a:off x="0" y="0"/>
            <a:ext cx="12192000" cy="781177"/>
          </a:xfrm>
          <a:prstGeom prst="rect">
            <a:avLst/>
          </a:prstGeom>
          <a:solidFill>
            <a:srgbClr val="08A8F6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33" name="图片 3"/>
          <p:cNvPicPr>
            <a:picLocks noChangeAspect="1"/>
          </p:cNvPicPr>
          <p:nvPr userDrawn="1"/>
        </p:nvPicPr>
        <p:blipFill rotWithShape="1">
          <a:blip r:embed="rId2" cstate="print">
            <a:alphaModFix amt="35000"/>
            <a:biLevel thresh="25000"/>
          </a:blip>
          <a:srcRect t="32381"/>
          <a:stretch>
            <a:fillRect/>
          </a:stretch>
        </p:blipFill>
        <p:spPr>
          <a:xfrm>
            <a:off x="7482780" y="1381934"/>
            <a:ext cx="3830533" cy="4165580"/>
          </a:xfrm>
          <a:prstGeom prst="rect">
            <a:avLst/>
          </a:prstGeom>
        </p:spPr>
      </p:pic>
      <p:grpSp>
        <p:nvGrpSpPr>
          <p:cNvPr id="34" name="组合 5"/>
          <p:cNvGrpSpPr/>
          <p:nvPr userDrawn="1"/>
        </p:nvGrpSpPr>
        <p:grpSpPr>
          <a:xfrm>
            <a:off x="9763201" y="6305810"/>
            <a:ext cx="2199640" cy="344805"/>
            <a:chOff x="15601" y="10027"/>
            <a:chExt cx="3464" cy="543"/>
          </a:xfrm>
        </p:grpSpPr>
        <p:sp>
          <p:nvSpPr>
            <p:cNvPr id="35" name="文本框 10"/>
            <p:cNvSpPr txBox="1"/>
            <p:nvPr userDrawn="1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l" defTabSz="914400" rtl="0" eaLnBrk="1" latinLnBrk="0" hangingPunct="1">
                <a:lnSpc>
                  <a:spcPct val="130000"/>
                </a:lnSpc>
              </a:pPr>
              <a:r>
                <a:rPr lang="zh-CN" altLang="en-US" sz="1400" kern="1200" dirty="0">
                  <a:gradFill>
                    <a:gsLst>
                      <a:gs pos="0">
                        <a:srgbClr val="0284E2"/>
                      </a:gs>
                      <a:gs pos="100000">
                        <a:srgbClr val="00B050"/>
                      </a:gs>
                    </a:gsLst>
                    <a:lin ang="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</a:p>
          </p:txBody>
        </p:sp>
        <p:cxnSp>
          <p:nvCxnSpPr>
            <p:cNvPr id="36" name="直接连接符 15"/>
            <p:cNvCxnSpPr/>
            <p:nvPr userDrawn="1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37" name="图片 4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4478" y="0"/>
            <a:ext cx="2350420" cy="88140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40" name="组合 1"/>
          <p:cNvGrpSpPr/>
          <p:nvPr userDrawn="1"/>
        </p:nvGrpSpPr>
        <p:grpSpPr>
          <a:xfrm>
            <a:off x="9763201" y="6305810"/>
            <a:ext cx="2199640" cy="344805"/>
            <a:chOff x="15601" y="10027"/>
            <a:chExt cx="3464" cy="543"/>
          </a:xfrm>
        </p:grpSpPr>
        <p:sp>
          <p:nvSpPr>
            <p:cNvPr id="41" name="文本框 2"/>
            <p:cNvSpPr txBox="1"/>
            <p:nvPr userDrawn="1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l" defTabSz="914400" rtl="0" eaLnBrk="1" latinLnBrk="0" hangingPunct="1">
                <a:lnSpc>
                  <a:spcPct val="130000"/>
                </a:lnSpc>
              </a:pPr>
              <a:r>
                <a:rPr lang="zh-CN" altLang="en-US" sz="1400" kern="1200" dirty="0">
                  <a:gradFill>
                    <a:gsLst>
                      <a:gs pos="0">
                        <a:srgbClr val="0284E2"/>
                      </a:gs>
                      <a:gs pos="100000">
                        <a:srgbClr val="00B050"/>
                      </a:gs>
                    </a:gsLst>
                    <a:lin ang="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</a:p>
          </p:txBody>
        </p:sp>
        <p:cxnSp>
          <p:nvCxnSpPr>
            <p:cNvPr id="42" name="直接连接符 15"/>
            <p:cNvCxnSpPr/>
            <p:nvPr userDrawn="1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43" name="矩形 9"/>
          <p:cNvSpPr/>
          <p:nvPr userDrawn="1"/>
        </p:nvSpPr>
        <p:spPr>
          <a:xfrm>
            <a:off x="456565" y="1199515"/>
            <a:ext cx="1210588" cy="707886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marL="0" marR="0" lvl="0" indent="0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8A8F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目录</a:t>
            </a:r>
          </a:p>
        </p:txBody>
      </p:sp>
      <p:sp>
        <p:nvSpPr>
          <p:cNvPr id="44" name="文本框 10"/>
          <p:cNvSpPr txBox="1"/>
          <p:nvPr userDrawn="1"/>
        </p:nvSpPr>
        <p:spPr>
          <a:xfrm>
            <a:off x="481965" y="576640"/>
            <a:ext cx="41249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200" b="1" dirty="0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 panose="020B0800000000000000" charset="-122"/>
              </a:rPr>
              <a:t>CONTENTS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47" name="组合 5"/>
          <p:cNvGrpSpPr/>
          <p:nvPr userDrawn="1"/>
        </p:nvGrpSpPr>
        <p:grpSpPr>
          <a:xfrm>
            <a:off x="9906635" y="6367145"/>
            <a:ext cx="2199640" cy="344805"/>
            <a:chOff x="15601" y="10027"/>
            <a:chExt cx="3464" cy="543"/>
          </a:xfrm>
        </p:grpSpPr>
        <p:sp>
          <p:nvSpPr>
            <p:cNvPr id="48" name="文本框 6"/>
            <p:cNvSpPr txBox="1"/>
            <p:nvPr userDrawn="1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l" defTabSz="914400" rtl="0" eaLnBrk="1" latinLnBrk="0" hangingPunct="1">
                <a:lnSpc>
                  <a:spcPct val="130000"/>
                </a:lnSpc>
              </a:pPr>
              <a:r>
                <a:rPr lang="zh-CN" altLang="en-US" sz="1400" kern="1200" dirty="0">
                  <a:gradFill>
                    <a:gsLst>
                      <a:gs pos="0">
                        <a:srgbClr val="0284E2"/>
                      </a:gs>
                      <a:gs pos="100000">
                        <a:srgbClr val="00B050"/>
                      </a:gs>
                    </a:gsLst>
                    <a:lin ang="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</a:p>
          </p:txBody>
        </p:sp>
        <p:cxnSp>
          <p:nvCxnSpPr>
            <p:cNvPr id="49" name="直接连接符 7"/>
            <p:cNvCxnSpPr/>
            <p:nvPr userDrawn="1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A6F9"/>
            </a:gs>
            <a:gs pos="100000">
              <a:srgbClr val="81BD0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/>
                </a:solidFill>
                <a:latin typeface="Source Han Sans CN Normal" panose="020B0800000000000000" charset="-122"/>
                <a:ea typeface="Source Han Sans CN Normal" panose="020B0800000000000000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/>
          <p:cNvSpPr txBox="1"/>
          <p:nvPr/>
        </p:nvSpPr>
        <p:spPr>
          <a:xfrm>
            <a:off x="3417888" y="5226665"/>
            <a:ext cx="5356225" cy="701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占骏龙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algn="ctr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  2026.9.30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</p:txBody>
      </p:sp>
      <p:sp>
        <p:nvSpPr>
          <p:cNvPr id="3" name="文本框 6"/>
          <p:cNvSpPr txBox="1"/>
          <p:nvPr/>
        </p:nvSpPr>
        <p:spPr>
          <a:xfrm>
            <a:off x="1908747" y="1852426"/>
            <a:ext cx="83745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4800" b="1" dirty="0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 panose="020B0800000000000000" charset="-122"/>
              </a:rPr>
              <a:t>月度激励</a:t>
            </a:r>
            <a:r>
              <a:rPr lang="en-US" altLang="zh-CN" sz="4800" b="1" dirty="0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 panose="020B0800000000000000" charset="-122"/>
              </a:rPr>
              <a:t>-</a:t>
            </a:r>
            <a:r>
              <a:rPr lang="zh-CN" altLang="en-US" sz="4800" b="1" dirty="0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 panose="020B0800000000000000" charset="-122"/>
              </a:rPr>
              <a:t>星光应用申报</a:t>
            </a:r>
            <a:endParaRPr lang="en-US" altLang="zh-CN" sz="4800" b="1" dirty="0">
              <a:solidFill>
                <a:srgbClr val="08A8F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ource Han Sans CN Bold" panose="020B0800000000000000" charset="-122"/>
            </a:endParaRPr>
          </a:p>
        </p:txBody>
      </p:sp>
      <p:sp>
        <p:nvSpPr>
          <p:cNvPr id="4" name="文本框 10"/>
          <p:cNvSpPr txBox="1"/>
          <p:nvPr/>
        </p:nvSpPr>
        <p:spPr>
          <a:xfrm>
            <a:off x="3232175" y="2868089"/>
            <a:ext cx="57276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dirty="0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 panose="020B0800000000000000" charset="-122"/>
              </a:rPr>
              <a:t>NextDOS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26"/>
          <p:cNvSpPr/>
          <p:nvPr/>
        </p:nvSpPr>
        <p:spPr>
          <a:xfrm>
            <a:off x="2741964" y="2138212"/>
            <a:ext cx="713740" cy="7137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</a:p>
        </p:txBody>
      </p:sp>
      <p:sp>
        <p:nvSpPr>
          <p:cNvPr id="7" name="圆角矩形 27"/>
          <p:cNvSpPr/>
          <p:nvPr/>
        </p:nvSpPr>
        <p:spPr>
          <a:xfrm>
            <a:off x="3585244" y="3076107"/>
            <a:ext cx="6855091" cy="71374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rtlCol="0" anchor="ctr" anchorCtr="0"/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Regular" panose="020B0503020204020204" charset="-122"/>
                <a:sym typeface="+mn-ea"/>
              </a:rPr>
              <a:t>应用核心功能</a:t>
            </a:r>
            <a:endParaRPr lang="en-US" altLang="zh-CN" sz="2400" b="1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 Regular" panose="020B0503020204020204" charset="-122"/>
              <a:sym typeface="+mn-ea"/>
            </a:endParaRPr>
          </a:p>
        </p:txBody>
      </p:sp>
      <p:sp>
        <p:nvSpPr>
          <p:cNvPr id="8" name="圆角矩形 28"/>
          <p:cNvSpPr/>
          <p:nvPr/>
        </p:nvSpPr>
        <p:spPr>
          <a:xfrm>
            <a:off x="2734344" y="3063407"/>
            <a:ext cx="713740" cy="7137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</a:p>
        </p:txBody>
      </p:sp>
      <p:sp>
        <p:nvSpPr>
          <p:cNvPr id="9" name="圆角矩形 29"/>
          <p:cNvSpPr/>
          <p:nvPr/>
        </p:nvSpPr>
        <p:spPr>
          <a:xfrm>
            <a:off x="3585244" y="4001302"/>
            <a:ext cx="6855091" cy="71374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rtlCol="0" anchor="ctr" anchorCtr="0"/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Regular" panose="020B0503020204020204" charset="-122"/>
                <a:sym typeface="+mn-ea"/>
              </a:rPr>
              <a:t>创新性</a:t>
            </a:r>
            <a:endParaRPr lang="en-US" altLang="zh-CN" sz="2400" b="1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 Regular" panose="020B0503020204020204" charset="-122"/>
              <a:sym typeface="+mn-ea"/>
            </a:endParaRPr>
          </a:p>
        </p:txBody>
      </p:sp>
      <p:sp>
        <p:nvSpPr>
          <p:cNvPr id="10" name="圆角矩形 30"/>
          <p:cNvSpPr/>
          <p:nvPr/>
        </p:nvSpPr>
        <p:spPr>
          <a:xfrm>
            <a:off x="2734344" y="3988602"/>
            <a:ext cx="713740" cy="7137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</a:p>
        </p:txBody>
      </p:sp>
      <p:sp>
        <p:nvSpPr>
          <p:cNvPr id="11" name="圆角矩形 44"/>
          <p:cNvSpPr/>
          <p:nvPr/>
        </p:nvSpPr>
        <p:spPr>
          <a:xfrm>
            <a:off x="3597944" y="2138212"/>
            <a:ext cx="6855091" cy="71374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rtlCol="0" anchor="ctr" anchorCtr="0"/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Regular" panose="020B0503020204020204" charset="-122"/>
                <a:sym typeface="+mn-ea"/>
              </a:rPr>
              <a:t>创作简介</a:t>
            </a:r>
            <a:endParaRPr lang="en-US" altLang="zh-CN" sz="24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Regular" panose="020B0503020204020204" charset="-122"/>
              <a:sym typeface="+mn-ea"/>
            </a:endParaRPr>
          </a:p>
        </p:txBody>
      </p:sp>
      <p:sp>
        <p:nvSpPr>
          <p:cNvPr id="12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13" name="圆角矩形 29"/>
          <p:cNvSpPr/>
          <p:nvPr/>
        </p:nvSpPr>
        <p:spPr>
          <a:xfrm>
            <a:off x="3597944" y="4913797"/>
            <a:ext cx="6855091" cy="71374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rtlCol="0" anchor="ctr" anchorCtr="0"/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icrosoft YaHei Regular" panose="020B0503020204020204" charset="-122"/>
                <a:sym typeface="+mn-ea"/>
              </a:rPr>
              <a:t>商业价值</a:t>
            </a:r>
            <a:endParaRPr lang="en-US" altLang="zh-CN" sz="2400" b="1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 Regular" panose="020B0503020204020204" charset="-122"/>
              <a:sym typeface="+mn-ea"/>
            </a:endParaRPr>
          </a:p>
        </p:txBody>
      </p:sp>
      <p:sp>
        <p:nvSpPr>
          <p:cNvPr id="14" name="圆角矩形 30"/>
          <p:cNvSpPr/>
          <p:nvPr/>
        </p:nvSpPr>
        <p:spPr>
          <a:xfrm>
            <a:off x="2747044" y="4901097"/>
            <a:ext cx="713740" cy="7137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95815" y="200290"/>
            <a:ext cx="5966068" cy="446134"/>
          </a:xfrm>
        </p:spPr>
        <p:txBody>
          <a:bodyPr anchor="ctr"/>
          <a:lstStyle/>
          <a:p>
            <a:r>
              <a:rPr kumimoji="1" lang="zh-CN" altLang="en-US" dirty="0"/>
              <a:t>创作简介</a:t>
            </a:r>
            <a:endParaRPr kumimoji="1" lang="zh-CN" altLang="en-US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4"/>
          <p:cNvSpPr txBox="1"/>
          <p:nvPr/>
        </p:nvSpPr>
        <p:spPr>
          <a:xfrm>
            <a:off x="681316" y="2280540"/>
            <a:ext cx="3012141" cy="381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为什么做这款APP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</p:txBody>
      </p:sp>
      <p:sp>
        <p:nvSpPr>
          <p:cNvPr id="19" name="文本框 4"/>
          <p:cNvSpPr txBox="1"/>
          <p:nvPr/>
        </p:nvSpPr>
        <p:spPr>
          <a:xfrm>
            <a:off x="681316" y="4569388"/>
            <a:ext cx="3012141" cy="381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应用一句话亮点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</p:txBody>
      </p:sp>
      <p:sp>
        <p:nvSpPr>
          <p:cNvPr id="20" name="文本框 4"/>
          <p:cNvSpPr txBox="1"/>
          <p:nvPr/>
        </p:nvSpPr>
        <p:spPr>
          <a:xfrm>
            <a:off x="681316" y="950500"/>
            <a:ext cx="8516472" cy="381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团队简介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371600"/>
            <a:ext cx="10789920" cy="720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400" b="0" dirty="0" err="1">
                <a:solidFill>
                  <a:srgbClr val="0F1423"/>
                </a:solidFill>
                <a:latin typeface="微软雅黑"/>
                <a:ea typeface="微软雅黑"/>
              </a:rPr>
              <a:t>申报人</a:t>
            </a:r>
            <a:r>
              <a:rPr sz="1400" b="0" dirty="0">
                <a:solidFill>
                  <a:srgbClr val="0F1423"/>
                </a:solidFill>
                <a:latin typeface="微软雅黑"/>
                <a:ea typeface="微软雅黑"/>
              </a:rPr>
              <a:t>：</a:t>
            </a:r>
            <a:r>
              <a:rPr lang="zh-CN" altLang="en-US" sz="1400" dirty="0">
                <a:solidFill>
                  <a:srgbClr val="0F1423"/>
                </a:solidFill>
                <a:latin typeface="微软雅黑"/>
                <a:ea typeface="微软雅黑"/>
              </a:rPr>
              <a:t>占骏龙</a:t>
            </a:r>
            <a:r>
              <a:rPr sz="1400" b="0" dirty="0">
                <a:solidFill>
                  <a:srgbClr val="0F1423"/>
                </a:solidFill>
                <a:latin typeface="微软雅黑"/>
                <a:ea typeface="微软雅黑"/>
              </a:rPr>
              <a:t>（</a:t>
            </a:r>
            <a:r>
              <a:rPr sz="1400" b="0" dirty="0" err="1">
                <a:solidFill>
                  <a:srgbClr val="0F1423"/>
                </a:solidFill>
                <a:latin typeface="微软雅黑"/>
                <a:ea typeface="微软雅黑"/>
              </a:rPr>
              <a:t>独立开发者</a:t>
            </a:r>
            <a:r>
              <a:rPr sz="1400" b="0" dirty="0">
                <a:solidFill>
                  <a:srgbClr val="0F1423"/>
                </a:solidFill>
                <a:latin typeface="微软雅黑"/>
                <a:ea typeface="微软雅黑"/>
              </a:rPr>
              <a:t>）｜</a:t>
            </a:r>
            <a:r>
              <a:rPr sz="1400" b="0" dirty="0" err="1">
                <a:solidFill>
                  <a:srgbClr val="0F1423"/>
                </a:solidFill>
                <a:latin typeface="微软雅黑"/>
                <a:ea typeface="微软雅黑"/>
              </a:rPr>
              <a:t>学校</a:t>
            </a:r>
            <a:r>
              <a:rPr sz="1400" b="0" dirty="0">
                <a:solidFill>
                  <a:srgbClr val="0F1423"/>
                </a:solidFill>
                <a:latin typeface="微软雅黑"/>
                <a:ea typeface="微软雅黑"/>
              </a:rPr>
              <a:t>：</a:t>
            </a:r>
            <a:r>
              <a:rPr lang="zh-CN" altLang="en-US" sz="1400" dirty="0">
                <a:solidFill>
                  <a:srgbClr val="0F1423"/>
                </a:solidFill>
                <a:latin typeface="微软雅黑"/>
                <a:ea typeface="微软雅黑"/>
              </a:rPr>
              <a:t>武汉大学</a:t>
            </a:r>
            <a:r>
              <a:rPr sz="1400" b="0" dirty="0">
                <a:solidFill>
                  <a:srgbClr val="0F1423"/>
                </a:solidFill>
                <a:latin typeface="微软雅黑"/>
                <a:ea typeface="微软雅黑"/>
              </a:rPr>
              <a:t>｜</a:t>
            </a:r>
            <a:r>
              <a:rPr sz="1400" b="0" dirty="0" err="1">
                <a:solidFill>
                  <a:srgbClr val="0F1423"/>
                </a:solidFill>
                <a:latin typeface="微软雅黑"/>
                <a:ea typeface="微软雅黑"/>
              </a:rPr>
              <a:t>专业</a:t>
            </a:r>
            <a:r>
              <a:rPr sz="1400" b="0" dirty="0">
                <a:solidFill>
                  <a:srgbClr val="0F1423"/>
                </a:solidFill>
                <a:latin typeface="微软雅黑"/>
                <a:ea typeface="微软雅黑"/>
              </a:rPr>
              <a:t>：</a:t>
            </a:r>
            <a:r>
              <a:rPr lang="zh-CN" altLang="en-US" sz="1400" dirty="0">
                <a:solidFill>
                  <a:srgbClr val="0F1423"/>
                </a:solidFill>
                <a:latin typeface="微软雅黑"/>
                <a:ea typeface="微软雅黑"/>
              </a:rPr>
              <a:t>信息安全</a:t>
            </a:r>
            <a:endParaRPr lang="en-US" altLang="zh-CN" sz="1400" b="0" dirty="0">
              <a:solidFill>
                <a:srgbClr val="0F1423"/>
              </a:solidFill>
              <a:latin typeface="微软雅黑"/>
              <a:ea typeface="微软雅黑"/>
            </a:endParaRP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0F1423"/>
                </a:solidFill>
                <a:latin typeface="微软雅黑"/>
                <a:ea typeface="微软雅黑"/>
              </a:rPr>
              <a:t>开发形态：独立开发，引擎为自维护 dosbox-staging ohos 分支</a:t>
            </a:r>
            <a:endParaRPr sz="1400" b="0" dirty="0">
              <a:solidFill>
                <a:srgbClr val="0F1423"/>
              </a:solidFill>
              <a:latin typeface="微软雅黑"/>
              <a:ea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5800" y="2697480"/>
            <a:ext cx="10789920" cy="112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5000"/>
              </a:lnSpc>
              <a:spcAft>
                <a:spcPts val="400"/>
              </a:spcAft>
            </a:pPr>
            <a:r>
              <a:rPr sz="1600" b="0" dirty="0">
                <a:solidFill>
                  <a:srgbClr val="0F1423"/>
                </a:solidFill>
                <a:latin typeface="微软雅黑"/>
                <a:ea typeface="微软雅黑"/>
              </a:rPr>
              <a:t>在学习汇编语言课程时接触到 DOSBox，却发现鸿蒙平台没有对应原生适配。于是决定亲手做一款出来：把 DOSBox Staging 引擎移植为 embed 模式原生库，配系统输入法与实体键鼠适配，让 DOS 环境在鸿蒙设备上离线复活。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956048"/>
            <a:ext cx="10817352" cy="960120"/>
          </a:xfrm>
          <a:prstGeom prst="roundRect">
            <a:avLst>
              <a:gd name="adj" fmla="val 12000"/>
            </a:avLst>
          </a:prstGeom>
          <a:solidFill>
            <a:srgbClr val="F0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>
              <a:lnSpc>
                <a:spcPct val="130000"/>
              </a:lnSpc>
            </a:pPr>
            <a:r>
              <a:rPr sz="2000" b="1" dirty="0" err="1">
                <a:solidFill>
                  <a:srgbClr val="4874CB"/>
                </a:solidFill>
                <a:latin typeface="微软雅黑"/>
                <a:ea typeface="微软雅黑"/>
              </a:rPr>
              <a:t>鸿蒙原生 DOS 模拟器：真机离线满速运行 Turbo C、MASM 等经典 DOS 软件，挂载、声卡、网络联机齐备。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95815" y="200290"/>
            <a:ext cx="5966068" cy="446134"/>
          </a:xfrm>
        </p:spPr>
        <p:txBody>
          <a:bodyPr anchor="ctr"/>
          <a:lstStyle/>
          <a:p>
            <a:r>
              <a:rPr kumimoji="1"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应用核心功能</a:t>
            </a:r>
          </a:p>
        </p:txBody>
      </p:sp>
      <p:sp>
        <p:nvSpPr>
          <p:cNvPr id="24" name="文本框 3"/>
          <p:cNvSpPr txBox="1"/>
          <p:nvPr/>
        </p:nvSpPr>
        <p:spPr>
          <a:xfrm>
            <a:off x="600634" y="1109012"/>
            <a:ext cx="3836895" cy="381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差异化功能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03504" y="1627632"/>
            <a:ext cx="6675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4874CB"/>
                </a:solidFill>
                <a:latin typeface="微软雅黑"/>
                <a:ea typeface="微软雅黑"/>
              </a:rPr>
              <a:t>01  本地 DOS 引擎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" y="1929384"/>
            <a:ext cx="6675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0F1423"/>
                </a:solidFill>
                <a:latin typeface="微软雅黑"/>
                <a:ea typeface="微软雅黑"/>
              </a:rPr>
              <a:t>DOSBox Staging 以 embed 模式编译为原生库，独立线程满速模拟 CPU、声卡与显示，DOS 软件离线运行。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" y="2423160"/>
            <a:ext cx="6675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4874CB"/>
                </a:solidFill>
                <a:latin typeface="微软雅黑"/>
                <a:ea typeface="微软雅黑"/>
              </a:rPr>
              <a:t>02  触屏与控制按键栏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" y="2724912"/>
            <a:ext cx="6675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0F1423"/>
                </a:solidFill>
                <a:latin typeface="微软雅黑"/>
                <a:ea typeface="微软雅黑"/>
              </a:rPr>
              <a:t>底部控制按键栏承载模拟器控制；触摸点按、长按、双指滚动手势映射 DOS 鼠标，体验持续优化中。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" y="3218688"/>
            <a:ext cx="6675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4874CB"/>
                </a:solidFill>
                <a:latin typeface="微软雅黑"/>
                <a:ea typeface="微软雅黑"/>
              </a:rPr>
              <a:t>03  系统输入法直通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" y="3520440"/>
            <a:ext cx="6675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0F1423"/>
                </a:solidFill>
                <a:latin typeface="微软雅黑"/>
                <a:ea typeface="微软雅黑"/>
              </a:rPr>
              <a:t>点按唤起系统输入法，输入内容差分注入；实体键盘支持全字符、F 功能键与 Ctrl 组合键。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" y="4014215"/>
            <a:ext cx="6675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4874CB"/>
                </a:solidFill>
                <a:latin typeface="微软雅黑"/>
                <a:ea typeface="微软雅黑"/>
              </a:rPr>
              <a:t>04  目录挂载 C 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" y="4315968"/>
            <a:ext cx="6675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0F1423"/>
                </a:solidFill>
                <a:latin typeface="微软雅黑"/>
                <a:ea typeface="微软雅黑"/>
              </a:rPr>
              <a:t>选择本地目录即挂载为 DOS C: 盘，免重启实时注入 mount 命令并自动切盘，即选即用。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" y="4809744"/>
            <a:ext cx="6675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4874CB"/>
                </a:solidFill>
                <a:latin typeface="微软雅黑"/>
                <a:ea typeface="微软雅黑"/>
              </a:rPr>
              <a:t>05  声卡与音效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" y="5111496"/>
            <a:ext cx="6675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0F1423"/>
                </a:solidFill>
                <a:latin typeface="微软雅黑"/>
                <a:ea typeface="微软雅黑"/>
              </a:rPr>
              <a:t>DOS 声卡全模拟，音频经 OHAudio 低延迟输出，静音与 CPU 速度在设置面板可调。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" y="5605272"/>
            <a:ext cx="6675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4874CB"/>
                </a:solidFill>
                <a:latin typeface="微软雅黑"/>
                <a:ea typeface="微软雅黑"/>
              </a:rPr>
              <a:t>06  虚拟网卡与联机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" y="5907024"/>
            <a:ext cx="6675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0F1423"/>
                </a:solidFill>
                <a:latin typeface="微软雅黑"/>
                <a:ea typeface="微软雅黑"/>
              </a:rPr>
              <a:t>模拟 NE2000 网卡经 NAT 联网，支持端口转发与 IPX 协议，两台鸿蒙设备真机联机已闭环。</a:t>
            </a:r>
          </a:p>
        </p:txBody>
      </p:sp>
      <p:pic>
        <p:nvPicPr>
          <p:cNvPr id="37" name="Picture 36" descr="intro-4-9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2000" y="2336400"/>
            <a:ext cx="4024800" cy="25164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542000" y="4932000"/>
            <a:ext cx="4024800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微软雅黑"/>
                <a:ea typeface="微软雅黑"/>
              </a:rPr>
              <a:t>真机实拍：主机目录挂载为 C: 盘（2in1 设备）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27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创新性</a:t>
            </a:r>
          </a:p>
        </p:txBody>
      </p:sp>
      <p:sp>
        <p:nvSpPr>
          <p:cNvPr id="28" name="文本框 3"/>
          <p:cNvSpPr txBox="1"/>
          <p:nvPr/>
        </p:nvSpPr>
        <p:spPr>
          <a:xfrm>
            <a:off x="600634" y="1109012"/>
            <a:ext cx="3836895" cy="381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体验的创新与提升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</p:txBody>
      </p:sp>
      <p:sp>
        <p:nvSpPr>
          <p:cNvPr id="29" name="文本框 4"/>
          <p:cNvSpPr txBox="1"/>
          <p:nvPr/>
        </p:nvSpPr>
        <p:spPr>
          <a:xfrm>
            <a:off x="600634" y="3923929"/>
            <a:ext cx="3836895" cy="381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接入的鸿蒙特性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03504" y="1572768"/>
            <a:ext cx="5349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450" b="1">
                <a:solidFill>
                  <a:srgbClr val="4874CB"/>
                </a:solidFill>
                <a:latin typeface="微软雅黑"/>
                <a:ea typeface="微软雅黑"/>
              </a:rPr>
              <a:t>seamless 指针直连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250" b="0">
                <a:solidFill>
                  <a:srgbClr val="0F1423"/>
                </a:solidFill>
                <a:latin typeface="微软雅黑"/>
                <a:ea typeface="微软雅黑"/>
              </a:rPr>
              <a:t>触点与物理鼠标经绝对指针直接驱动 guest 的 INT 33h 光标，点击即按键。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27064" y="1572768"/>
            <a:ext cx="5349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450" b="1" dirty="0" err="1">
                <a:solidFill>
                  <a:srgbClr val="4874CB"/>
                </a:solidFill>
                <a:latin typeface="微软雅黑"/>
                <a:ea typeface="微软雅黑"/>
              </a:rPr>
              <a:t>增量帧渲染</a:t>
            </a:r>
            <a:endParaRPr sz="1450" b="1" dirty="0">
              <a:solidFill>
                <a:srgbClr val="4874CB"/>
              </a:solidFill>
              <a:latin typeface="微软雅黑"/>
              <a:ea typeface="微软雅黑"/>
            </a:endParaRP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250" b="0" dirty="0" err="1">
                <a:solidFill>
                  <a:srgbClr val="0F1423"/>
                </a:solidFill>
                <a:latin typeface="微软雅黑"/>
                <a:ea typeface="微软雅黑"/>
              </a:rPr>
              <a:t>引擎独立线程发布画面，UI 按帧序号变化增量上屏；绘制矩形引擎统一下发，画面不拉伸不裁切。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" y="2706624"/>
            <a:ext cx="5349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450" b="1">
                <a:solidFill>
                  <a:srgbClr val="4874CB"/>
                </a:solidFill>
                <a:latin typeface="微软雅黑"/>
                <a:ea typeface="微软雅黑"/>
              </a:rPr>
              <a:t>一多三形态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250" b="0">
                <a:solidFill>
                  <a:srgbClr val="0F1423"/>
                </a:solidFill>
                <a:latin typeface="微软雅黑"/>
                <a:ea typeface="微软雅黑"/>
              </a:rPr>
              <a:t>手机/平板沉浸全屏加底部控制键栏，2in1 自绘标题栏，窗口窄于 600vp 自动横屏。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27064" y="2706624"/>
            <a:ext cx="5349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450" b="1">
                <a:solidFill>
                  <a:srgbClr val="4874CB"/>
                </a:solidFill>
                <a:latin typeface="微软雅黑"/>
                <a:ea typeface="微软雅黑"/>
              </a:rPr>
              <a:t>免重启热命令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250" b="0">
                <a:solidFill>
                  <a:srgbClr val="0F1423"/>
                </a:solidFill>
                <a:latin typeface="微软雅黑"/>
                <a:ea typeface="微软雅黑"/>
              </a:rPr>
              <a:t>挂载、切盘等运行时命令直接注入在跑的 guest，不重启模拟器即生效。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" y="4389120"/>
            <a:ext cx="352044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400" b="1">
                <a:solidFill>
                  <a:srgbClr val="4874CB"/>
                </a:solidFill>
                <a:latin typeface="微软雅黑"/>
                <a:ea typeface="微软雅黑"/>
              </a:rPr>
              <a:t>Node-API 引擎桥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200" b="0">
                <a:solidFill>
                  <a:srgbClr val="0F1423"/>
                </a:solidFill>
                <a:latin typeface="微软雅黑"/>
                <a:ea typeface="微软雅黑"/>
              </a:rPr>
              <a:t>C++ 引擎与 ArkTS 双向互通：帧轮询、键鼠注入、挂载与重启。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15968" y="4389120"/>
            <a:ext cx="352044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400" b="1">
                <a:solidFill>
                  <a:srgbClr val="4874CB"/>
                </a:solidFill>
                <a:latin typeface="微软雅黑"/>
                <a:ea typeface="微软雅黑"/>
              </a:rPr>
              <a:t>OHAudio 音频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200" b="0">
                <a:solidFill>
                  <a:srgbClr val="0F1423"/>
                </a:solidFill>
                <a:latin typeface="微软雅黑"/>
                <a:ea typeface="微软雅黑"/>
              </a:rPr>
              <a:t>DOS 声卡音频经系统低延迟音频流输出，连续播放真机验证。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28431" y="4389120"/>
            <a:ext cx="352044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400" b="1">
                <a:solidFill>
                  <a:srgbClr val="4874CB"/>
                </a:solidFill>
                <a:latin typeface="微软雅黑"/>
                <a:ea typeface="微软雅黑"/>
              </a:rPr>
              <a:t>系统输入法集成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200" b="0">
                <a:solidFill>
                  <a:srgbClr val="0F1423"/>
                </a:solidFill>
                <a:latin typeface="微软雅黑"/>
                <a:ea typeface="微软雅黑"/>
              </a:rPr>
              <a:t>点按唤起 IME，内容差分注入，软硬键盘并存不冲突。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" y="5394960"/>
            <a:ext cx="352044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400" b="1">
                <a:solidFill>
                  <a:srgbClr val="4874CB"/>
                </a:solidFill>
                <a:latin typeface="微软雅黑"/>
                <a:ea typeface="微软雅黑"/>
              </a:rPr>
              <a:t>NDK 双 ABI 构建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200" b="0">
                <a:solidFill>
                  <a:srgbClr val="0F1423"/>
                </a:solidFill>
                <a:latin typeface="微软雅黑"/>
                <a:ea typeface="微软雅黑"/>
              </a:rPr>
              <a:t>C++23 构建，arm64-v8a 与 x86_64 双 ABI 覆盖真机与模拟器。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15968" y="5394960"/>
            <a:ext cx="352044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400" b="1">
                <a:solidFill>
                  <a:srgbClr val="4874CB"/>
                </a:solidFill>
                <a:latin typeface="微软雅黑"/>
                <a:ea typeface="微软雅黑"/>
              </a:rPr>
              <a:t>一多窗口形态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200" b="0">
                <a:solidFill>
                  <a:srgbClr val="0F1423"/>
                </a:solidFill>
                <a:latin typeface="微软雅黑"/>
                <a:ea typeface="微软雅黑"/>
              </a:rPr>
              <a:t>2in1 定制标题栏、手机平板沉浸式全屏、窄窗自动横屏。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28431" y="5394960"/>
            <a:ext cx="352044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400" b="1">
                <a:solidFill>
                  <a:srgbClr val="4874CB"/>
                </a:solidFill>
                <a:latin typeface="微软雅黑"/>
                <a:ea typeface="微软雅黑"/>
              </a:rPr>
              <a:t>键码与滚轮转译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200" b="0">
                <a:solidFill>
                  <a:srgbClr val="0F1423"/>
                </a:solidFill>
                <a:latin typeface="微软雅黑"/>
                <a:ea typeface="微软雅黑"/>
              </a:rPr>
              <a:t>鸿蒙键码白名单转译注入，触控板滚轮按角度分档打点。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32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商业价值</a:t>
            </a:r>
          </a:p>
        </p:txBody>
      </p:sp>
      <p:sp>
        <p:nvSpPr>
          <p:cNvPr id="33" name="文本框 3"/>
          <p:cNvSpPr txBox="1"/>
          <p:nvPr/>
        </p:nvSpPr>
        <p:spPr>
          <a:xfrm>
            <a:off x="600634" y="1109012"/>
            <a:ext cx="3836895" cy="381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用户范围、用户反馈与商业潜力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03504" y="1572768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4874CB"/>
                </a:solidFill>
                <a:latin typeface="微软雅黑"/>
                <a:ea typeface="微软雅黑"/>
              </a:rPr>
              <a:t>用户范围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" y="2057400"/>
            <a:ext cx="3520440" cy="1247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300" b="0" dirty="0" err="1">
                <a:solidFill>
                  <a:srgbClr val="0F1423"/>
                </a:solidFill>
                <a:latin typeface="微软雅黑"/>
                <a:ea typeface="微软雅黑"/>
              </a:rPr>
              <a:t>面向汇编学习者、DOS 老软件用户与极客开发者的 HarmonyOS NEXT 用户，覆盖手机、平板与 2in1。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300" b="0" dirty="0" err="1">
                <a:solidFill>
                  <a:srgbClr val="0F1423"/>
                </a:solidFill>
                <a:latin typeface="微软雅黑"/>
                <a:ea typeface="微软雅黑"/>
              </a:rPr>
              <a:t>本地满速模拟，离线可用，无广告无内购。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15968" y="1572768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4874CB"/>
                </a:solidFill>
                <a:latin typeface="微软雅黑"/>
                <a:ea typeface="微软雅黑"/>
              </a:rPr>
              <a:t>用户反馈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15968" y="2057400"/>
            <a:ext cx="3520440" cy="1517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300" b="0" dirty="0" err="1">
                <a:solidFill>
                  <a:srgbClr val="0F1423"/>
                </a:solidFill>
                <a:latin typeface="微软雅黑"/>
                <a:ea typeface="微软雅黑"/>
              </a:rPr>
              <a:t>真机验收：Turbo C、MASM、QuickView Pro、Windows 3.x 已在手机、平板、2in1 实机运行。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300" b="0" dirty="0" err="1">
                <a:solidFill>
                  <a:srgbClr val="0F1423"/>
                </a:solidFill>
                <a:latin typeface="微软雅黑"/>
                <a:ea typeface="微软雅黑"/>
              </a:rPr>
              <a:t>目录挂载、音频连播、NAT</a:t>
            </a:r>
            <a:r>
              <a:rPr sz="1300" b="0" dirty="0">
                <a:solidFill>
                  <a:srgbClr val="0F1423"/>
                </a:solidFill>
                <a:latin typeface="微软雅黑"/>
                <a:ea typeface="微软雅黑"/>
              </a:rPr>
              <a:t> </a:t>
            </a:r>
            <a:r>
              <a:rPr sz="1300" b="0" dirty="0" err="1">
                <a:solidFill>
                  <a:srgbClr val="0F1423"/>
                </a:solidFill>
                <a:latin typeface="微软雅黑"/>
                <a:ea typeface="微软雅黑"/>
              </a:rPr>
              <a:t>联网与</a:t>
            </a:r>
            <a:r>
              <a:rPr sz="1300" b="0" dirty="0">
                <a:solidFill>
                  <a:srgbClr val="0F1423"/>
                </a:solidFill>
                <a:latin typeface="微软雅黑"/>
                <a:ea typeface="微软雅黑"/>
              </a:rPr>
              <a:t> IPX </a:t>
            </a:r>
            <a:r>
              <a:rPr sz="1300" b="0" dirty="0" err="1">
                <a:solidFill>
                  <a:srgbClr val="0F1423"/>
                </a:solidFill>
                <a:latin typeface="微软雅黑"/>
                <a:ea typeface="微软雅黑"/>
              </a:rPr>
              <a:t>联机链路逐一跑通</a:t>
            </a:r>
            <a:r>
              <a:rPr sz="1300" b="0" dirty="0">
                <a:solidFill>
                  <a:srgbClr val="0F1423"/>
                </a:solidFill>
                <a:latin typeface="微软雅黑"/>
                <a:ea typeface="微软雅黑"/>
              </a:rPr>
              <a:t>，</a:t>
            </a:r>
            <a:r>
              <a:rPr lang="zh-CN" altLang="en-US" sz="1300" dirty="0">
                <a:solidFill>
                  <a:srgbClr val="0F1423"/>
                </a:solidFill>
                <a:latin typeface="微软雅黑"/>
                <a:ea typeface="微软雅黑"/>
              </a:rPr>
              <a:t>已在</a:t>
            </a:r>
            <a:r>
              <a:rPr sz="1300" b="0" dirty="0" err="1">
                <a:solidFill>
                  <a:srgbClr val="0F1423"/>
                </a:solidFill>
                <a:latin typeface="微软雅黑"/>
                <a:ea typeface="微软雅黑"/>
              </a:rPr>
              <a:t>华为应用市场上架</a:t>
            </a:r>
            <a:r>
              <a:rPr sz="1300" b="0" dirty="0">
                <a:solidFill>
                  <a:srgbClr val="0F1423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28431" y="1572768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4874CB"/>
                </a:solidFill>
                <a:latin typeface="微软雅黑"/>
                <a:ea typeface="微软雅黑"/>
              </a:rPr>
              <a:t>商业潜力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28431" y="2057400"/>
            <a:ext cx="3520440" cy="2160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300" b="0" dirty="0" err="1">
                <a:solidFill>
                  <a:srgbClr val="0F1423"/>
                </a:solidFill>
                <a:latin typeface="微软雅黑"/>
                <a:ea typeface="微软雅黑"/>
              </a:rPr>
              <a:t>鸿蒙生态尚无原生 DOS 模拟器，品类稀缺，先发占位；汇编教学与复古软件需求明确。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300" b="0" dirty="0" err="1">
                <a:solidFill>
                  <a:srgbClr val="0F1423"/>
                </a:solidFill>
                <a:latin typeface="微软雅黑"/>
                <a:ea typeface="微软雅黑"/>
              </a:rPr>
              <a:t>免费无广告，GPL 合规分发，引擎 fork 已开源在 GitHub，可承接社区共建。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300" b="0" dirty="0" err="1">
                <a:solidFill>
                  <a:srgbClr val="0F1423"/>
                </a:solidFill>
                <a:latin typeface="微软雅黑"/>
                <a:ea typeface="微软雅黑"/>
              </a:rPr>
              <a:t>怀旧游戏是后续延展方向：手柄适配、存档云同步、经典游戏合集。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8800" y="3968576"/>
            <a:ext cx="2518638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dirty="0" err="1">
                <a:solidFill>
                  <a:srgbClr val="333333"/>
                </a:solidFill>
                <a:latin typeface="微软雅黑"/>
                <a:ea typeface="微软雅黑"/>
              </a:rPr>
              <a:t>真机验收截图</a:t>
            </a:r>
            <a:r>
              <a:rPr sz="1300" b="1" dirty="0">
                <a:solidFill>
                  <a:srgbClr val="333333"/>
                </a:solidFill>
                <a:latin typeface="微软雅黑"/>
                <a:ea typeface="微软雅黑"/>
              </a:rPr>
              <a:t>（</a:t>
            </a:r>
            <a:r>
              <a:rPr lang="zh-CN" altLang="en-US" sz="1300" b="1" dirty="0">
                <a:solidFill>
                  <a:srgbClr val="333333"/>
                </a:solidFill>
                <a:latin typeface="微软雅黑"/>
                <a:ea typeface="微软雅黑"/>
              </a:rPr>
              <a:t>平板</a:t>
            </a:r>
            <a:r>
              <a:rPr sz="1300" b="1" dirty="0" err="1">
                <a:solidFill>
                  <a:srgbClr val="333333"/>
                </a:solidFill>
                <a:latin typeface="微软雅黑"/>
                <a:ea typeface="微软雅黑"/>
              </a:rPr>
              <a:t>设备实拍</a:t>
            </a:r>
            <a:r>
              <a:rPr sz="1300" b="1" dirty="0">
                <a:solidFill>
                  <a:srgbClr val="333333"/>
                </a:solidFill>
                <a:latin typeface="微软雅黑"/>
                <a:ea typeface="微软雅黑"/>
              </a:rPr>
              <a:t>）</a:t>
            </a:r>
          </a:p>
        </p:txBody>
      </p:sp>
      <p:pic>
        <p:nvPicPr>
          <p:cNvPr id="41" name="Picture 40" descr="shot_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4320000"/>
            <a:ext cx="2851200" cy="17820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20000" y="6148799"/>
            <a:ext cx="28512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微软雅黑"/>
                <a:ea typeface="微软雅黑"/>
              </a:rPr>
              <a:t>NE2000 虚拟网卡驱动加载</a:t>
            </a:r>
          </a:p>
        </p:txBody>
      </p:sp>
      <p:pic>
        <p:nvPicPr>
          <p:cNvPr id="43" name="Picture 42" descr="shot_s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800" y="4320000"/>
            <a:ext cx="2851200" cy="17820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4672800" y="6148799"/>
            <a:ext cx="28512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微软雅黑"/>
                <a:ea typeface="微软雅黑"/>
              </a:rPr>
              <a:t>NAT 联网：ping 网关与公网零丢包</a:t>
            </a:r>
          </a:p>
        </p:txBody>
      </p:sp>
      <p:pic>
        <p:nvPicPr>
          <p:cNvPr id="45" name="Picture 44" descr="shot_s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2000" y="4320000"/>
            <a:ext cx="2851200" cy="17820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622000" y="6148799"/>
            <a:ext cx="28512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微软雅黑"/>
                <a:ea typeface="微软雅黑"/>
              </a:rPr>
              <a:t>IPX 两机联机：DOS 局域网对战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36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月度应用之星申报</a:t>
            </a:r>
          </a:p>
        </p:txBody>
      </p:sp>
      <p:sp>
        <p:nvSpPr>
          <p:cNvPr id="37" name="文本框 3"/>
          <p:cNvSpPr txBox="1"/>
          <p:nvPr/>
        </p:nvSpPr>
        <p:spPr>
          <a:xfrm>
            <a:off x="600634" y="1109012"/>
            <a:ext cx="8979784" cy="381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独立开发者贡献说明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03504" y="1691640"/>
            <a:ext cx="10789920" cy="417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800" b="1" dirty="0" err="1">
                <a:solidFill>
                  <a:srgbClr val="0F1423"/>
                </a:solidFill>
                <a:latin typeface="微软雅黑"/>
                <a:ea typeface="微软雅黑"/>
              </a:rPr>
              <a:t>独立开发者申报：队长</a:t>
            </a:r>
            <a:r>
              <a:rPr lang="zh-CN" altLang="en-US" sz="1800" b="1" dirty="0">
                <a:solidFill>
                  <a:srgbClr val="0F1423"/>
                </a:solidFill>
                <a:latin typeface="微软雅黑"/>
                <a:ea typeface="微软雅黑"/>
              </a:rPr>
              <a:t>占骏龙</a:t>
            </a:r>
            <a:r>
              <a:rPr sz="1800" b="1" dirty="0" err="1">
                <a:solidFill>
                  <a:srgbClr val="0F1423"/>
                </a:solidFill>
                <a:latin typeface="微软雅黑"/>
                <a:ea typeface="微软雅黑"/>
              </a:rPr>
              <a:t>主导完成</a:t>
            </a:r>
            <a:r>
              <a:rPr sz="1800" b="1" dirty="0">
                <a:solidFill>
                  <a:srgbClr val="0F1423"/>
                </a:solidFill>
                <a:latin typeface="微软雅黑"/>
                <a:ea typeface="微软雅黑"/>
              </a:rPr>
              <a:t> </a:t>
            </a:r>
            <a:r>
              <a:rPr sz="1800" b="1" dirty="0" err="1">
                <a:solidFill>
                  <a:srgbClr val="0F1423"/>
                </a:solidFill>
                <a:latin typeface="微软雅黑"/>
                <a:ea typeface="微软雅黑"/>
              </a:rPr>
              <a:t>NextDOS</a:t>
            </a:r>
            <a:r>
              <a:rPr sz="1800" b="1" dirty="0">
                <a:solidFill>
                  <a:srgbClr val="0F1423"/>
                </a:solidFill>
                <a:latin typeface="微软雅黑"/>
                <a:ea typeface="微软雅黑"/>
              </a:rPr>
              <a:t> </a:t>
            </a:r>
            <a:r>
              <a:rPr sz="1800" b="1" dirty="0" err="1">
                <a:solidFill>
                  <a:srgbClr val="0F1423"/>
                </a:solidFill>
                <a:latin typeface="微软雅黑"/>
                <a:ea typeface="微软雅黑"/>
              </a:rPr>
              <a:t>全部工作</a:t>
            </a:r>
            <a:endParaRPr sz="1800" b="1" dirty="0">
              <a:solidFill>
                <a:srgbClr val="0F1423"/>
              </a:solidFill>
              <a:latin typeface="微软雅黑"/>
              <a:ea typeface="微软雅黑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03504" y="23774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4874CB"/>
                </a:solidFill>
                <a:latin typeface="微软雅黑"/>
                <a:ea typeface="微软雅黑"/>
              </a:rPr>
              <a:t>•  </a:t>
            </a:r>
            <a:r>
              <a:rPr sz="1400" b="0">
                <a:solidFill>
                  <a:srgbClr val="0F1423"/>
                </a:solidFill>
                <a:latin typeface="微软雅黑"/>
                <a:ea typeface="微软雅黑"/>
              </a:rPr>
              <a:t>产品设计：功能定义与交互设计，控制键栏与一多三形态等鸿蒙设计语言落地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" y="294436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00" b="1" dirty="0">
                <a:solidFill>
                  <a:srgbClr val="4874CB"/>
                </a:solidFill>
                <a:latin typeface="微软雅黑"/>
                <a:ea typeface="微软雅黑"/>
              </a:rPr>
              <a:t>•  </a:t>
            </a:r>
            <a:r>
              <a:rPr sz="1400" b="0" dirty="0" err="1">
                <a:solidFill>
                  <a:srgbClr val="0F1423"/>
                </a:solidFill>
                <a:latin typeface="微软雅黑"/>
                <a:ea typeface="微软雅黑"/>
              </a:rPr>
              <a:t>引擎移植：自维护 dosbox-staging ohos 分支以 embed 模式接入，修复 W^X 崩溃与 XMS 回归等十余项问题</a:t>
            </a:r>
            <a:endParaRPr sz="1400" b="0" dirty="0">
              <a:solidFill>
                <a:srgbClr val="0F1423"/>
              </a:solidFill>
              <a:latin typeface="微软雅黑"/>
              <a:ea typeface="微软雅黑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03504" y="3511296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00" b="1" dirty="0">
                <a:solidFill>
                  <a:srgbClr val="4874CB"/>
                </a:solidFill>
                <a:latin typeface="微软雅黑"/>
                <a:ea typeface="微软雅黑"/>
              </a:rPr>
              <a:t>•  </a:t>
            </a:r>
            <a:r>
              <a:rPr sz="1400" b="0" dirty="0" err="1">
                <a:solidFill>
                  <a:srgbClr val="0F1423"/>
                </a:solidFill>
                <a:latin typeface="微软雅黑"/>
                <a:ea typeface="微软雅黑"/>
              </a:rPr>
              <a:t>全端开发：ArkTS UI 与 C++ 平台层（NAPI、OHAudio、渲染、输入）一套代码适配手机 / 平板 / 2in1</a:t>
            </a:r>
            <a:endParaRPr sz="1400" b="0" dirty="0">
              <a:solidFill>
                <a:srgbClr val="0F1423"/>
              </a:solidFill>
              <a:latin typeface="微软雅黑"/>
              <a:ea typeface="微软雅黑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03504" y="4078224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00" b="1" dirty="0">
                <a:solidFill>
                  <a:srgbClr val="4874CB"/>
                </a:solidFill>
                <a:latin typeface="微软雅黑"/>
                <a:ea typeface="微软雅黑"/>
              </a:rPr>
              <a:t>•  </a:t>
            </a:r>
            <a:r>
              <a:rPr sz="1400" b="0" dirty="0" err="1">
                <a:solidFill>
                  <a:srgbClr val="0F1423"/>
                </a:solidFill>
                <a:latin typeface="微软雅黑"/>
                <a:ea typeface="微软雅黑"/>
              </a:rPr>
              <a:t>真机验收与上架：Turbo C、MASM、QuickView Pro、Windows 3.x 真机闭环验收，推进应用市场上架</a:t>
            </a:r>
            <a:endParaRPr sz="1400" b="0" dirty="0">
              <a:solidFill>
                <a:srgbClr val="0F1423"/>
              </a:solidFill>
              <a:latin typeface="微软雅黑"/>
              <a:ea typeface="微软雅黑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03504" y="5291928"/>
            <a:ext cx="10789920" cy="345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400" b="0" dirty="0" err="1">
                <a:solidFill>
                  <a:srgbClr val="7A8FAD"/>
                </a:solidFill>
                <a:latin typeface="微软雅黑"/>
                <a:ea typeface="微软雅黑"/>
              </a:rPr>
              <a:t>申报人</a:t>
            </a:r>
            <a:r>
              <a:rPr sz="1400" b="0" dirty="0">
                <a:solidFill>
                  <a:srgbClr val="7A8FAD"/>
                </a:solidFill>
                <a:latin typeface="微软雅黑"/>
                <a:ea typeface="微软雅黑"/>
              </a:rPr>
              <a:t>：</a:t>
            </a:r>
            <a:r>
              <a:rPr lang="zh-CN" altLang="en-US" sz="1400" b="0" dirty="0">
                <a:solidFill>
                  <a:srgbClr val="7A8FAD"/>
                </a:solidFill>
                <a:latin typeface="微软雅黑"/>
                <a:ea typeface="微软雅黑"/>
              </a:rPr>
              <a:t>占骏龙</a:t>
            </a:r>
            <a:r>
              <a:rPr sz="1400" b="0" dirty="0">
                <a:solidFill>
                  <a:srgbClr val="7A8FAD"/>
                </a:solidFill>
                <a:latin typeface="微软雅黑"/>
                <a:ea typeface="微软雅黑"/>
              </a:rPr>
              <a:t>｜联络方式：</a:t>
            </a:r>
            <a:r>
              <a:rPr lang="en-US" sz="1400" dirty="0">
                <a:solidFill>
                  <a:srgbClr val="7A8FAD"/>
                </a:solidFill>
                <a:latin typeface="微软雅黑"/>
                <a:ea typeface="微软雅黑"/>
              </a:rPr>
              <a:t>18379956682</a:t>
            </a:r>
            <a:endParaRPr sz="1400" b="0" dirty="0">
              <a:solidFill>
                <a:srgbClr val="7A8FAD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A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8"/>
          <p:cNvSpPr txBox="1"/>
          <p:nvPr/>
        </p:nvSpPr>
        <p:spPr>
          <a:xfrm>
            <a:off x="3557237" y="1942121"/>
            <a:ext cx="507752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HarmonyOS Sans" panose="00000500000000000000" charset="0"/>
              </a:rPr>
              <a:t>谢  谢</a:t>
            </a:r>
            <a:endParaRPr kumimoji="0" lang="en-US" altLang="zh-CN" sz="6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HarmonyOS Sans" panose="00000500000000000000" charset="0"/>
            </a:endParaRPr>
          </a:p>
        </p:txBody>
      </p:sp>
      <p:sp>
        <p:nvSpPr>
          <p:cNvPr id="40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自定义设计方案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536</Words>
  <Application>Microsoft Office PowerPoint</Application>
  <PresentationFormat>宽屏</PresentationFormat>
  <Paragraphs>91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Source Han Sans CN Normal</vt:lpstr>
      <vt:lpstr>等线</vt:lpstr>
      <vt:lpstr>微软雅黑</vt:lpstr>
      <vt:lpstr>Arial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Eric Chan</cp:lastModifiedBy>
  <cp:revision>10</cp:revision>
  <dcterms:created xsi:type="dcterms:W3CDTF">2026-09-29T02:47:27Z</dcterms:created>
  <dcterms:modified xsi:type="dcterms:W3CDTF">2026-09-30T14:42:42Z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6F23F1578CEF1819A325BB6A9C5021C8_43</vt:lpwstr>
  </property>
  <property fmtid="{D5CDD505-2E9C-101B-9397-08002B2CF9AE}" pid="3" name="KSOProductBuildVer">
    <vt:lpwstr>2052-12.1.3.29172</vt:lpwstr>
  </property>
</Properties>
</file>